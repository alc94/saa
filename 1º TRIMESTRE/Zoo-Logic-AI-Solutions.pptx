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zeret Mono Medium"/>
      <p:regular r:id="rId201314"/>
    </p:embeddedFont>
    <p:embeddedFont>
      <p:font typeface="Azeret Mono Bold"/>
      <p:regular r:id="rId201315"/>
    </p:embeddedFont>
    <p:embeddedFont>
      <p:font typeface="Hind"/>
      <p:regular r:id="rId201316"/>
    </p:embeddedFont>
    <p:embeddedFont>
      <p:font typeface="Hind SemiBold"/>
      <p:regular r:id="rId201317"/>
    </p:embeddedFont>
    <p:embeddedFont>
      <p:font typeface="Hind Bold"/>
      <p:regular r:id="rId201318"/>
    </p:embeddedFont>
    <p:embeddedFont>
      <p:font typeface="Rajdhani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Zoo-Logic AI Solutions propone aplicar IA y Big Data a la gestión y al bienestar animal en zoológicos.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línea de negocio es SaaS B2B. Se ofrecen licencias de software predictivo para zoológicos, instalación de sensores IoT y cámaras, y una suscripción mensual por el uso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recibe tres tipos de información: visión computacional mediante cámaras en tiempo real; sensores IoT de temperatura, humedad y collares biométricos; y datos estructurados a partir de los registros diarios de veterinarios.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representación se basa en gemelos digitales de animales y ecosistemas. El razonamiento compara patrones frente al comportamiento normal. El resultado es la identificación de anomalías y alertas tempranas de enfermedades.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Veterinarios y cuidadores interactúan mediante un dashboard web con alertas y gráficas predictivas. Los visitantes utilizan tótems y una app móvil con chatbot educativo. Los iconos representan las interfaces, sin atribuir al producto pantallas o datos no definidos.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impacto social propuesto tiene tres dimensiones: bienestar animal, con menos estrés y mortalidad; conservación, mediante la cría en cautividad optimizada; y educación, con concienciación apoyada en datos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aprendizaje supervisado parte de historiales clínicos etiquetados. En el enfoque Human-in-the-loop, el veterinario confirma o corrige las alertas y el modelo se ajusta.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arranque combina código abierto, con estudios universitarios y de biología; históricos del propio zoo de los últimos 20 años; y Data augmentation mediante GANs, para generar datos sintéticos de enfermedades raras.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aporta análisis predictivo para dietas exactas. Computer Vision permite monitorización 24/7 y detección de anomalías físicas. NLP se aplica al chatbot inteligente para visitantes.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Zoo-Logic plantea pasar de una gestión reactiva a una predictiva, con un modelo rentable que eleva los estándares éticos.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5D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5D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1397000"/>
            <a:ext cx="6984825" cy="4616748"/>
          </a:xfrm>
          <a:prstGeom prst="roundRect">
            <a:avLst>
              <a:gd name="adj" fmla="val 3301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63578" y="2035373"/>
            <a:ext cx="6273643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25471" y="1752600"/>
            <a:ext cx="1093859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05737" y="17872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27278" y="1787241"/>
            <a:ext cx="195763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IA Y BIG DATA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3970" y="2241748"/>
            <a:ext cx="1612860" cy="14828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3578" y="4119860"/>
            <a:ext cx="6273643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600" b="1" spc="-112" kern="100" dirty="0">
                <a:solidFill>
                  <a:srgbClr val="2A3346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Zoo-Logic AI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63578" y="4997748"/>
            <a:ext cx="627364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IA y Big Data para la gestión y bienestar animal en zoológicos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2641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NEGOCIO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02333" y="5426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25533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1. Línea de negocio: SaaS B2B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2570063"/>
            <a:ext cx="3521979" cy="2665016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38179" y="2900263"/>
            <a:ext cx="647684" cy="647700"/>
          </a:xfrm>
          <a:prstGeom prst="ellipse">
            <a:avLst/>
          </a:prstGeom>
          <a:solidFill>
            <a:srgbClr val="2D3FA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00" y="3062188"/>
            <a:ext cx="323842" cy="323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8179" y="3674963"/>
            <a:ext cx="286159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Licencias de software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38179" y="4193679"/>
            <a:ext cx="286159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Software predictivo para zoológicos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4759" y="2570063"/>
            <a:ext cx="3522078" cy="2665016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4950" y="2900263"/>
            <a:ext cx="647684" cy="647700"/>
          </a:xfrm>
          <a:prstGeom prst="ellipse">
            <a:avLst/>
          </a:prstGeom>
          <a:solidFill>
            <a:srgbClr val="2D3FA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871" y="3062188"/>
            <a:ext cx="323842" cy="3238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4950" y="3674963"/>
            <a:ext cx="286169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Instalación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64950" y="4193679"/>
            <a:ext cx="319188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Sensores IoT y cámaras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161629" y="2570063"/>
            <a:ext cx="3522078" cy="2665016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8491821" y="2900263"/>
            <a:ext cx="647684" cy="647700"/>
          </a:xfrm>
          <a:prstGeom prst="ellipse">
            <a:avLst/>
          </a:prstGeom>
          <a:solidFill>
            <a:srgbClr val="2D3FA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742" y="3062188"/>
            <a:ext cx="323842" cy="3238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91821" y="3674963"/>
            <a:ext cx="286169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Suscripción mensual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491821" y="4193679"/>
            <a:ext cx="319188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Uso del sistema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1197540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2641"/>
            <a:ext cx="164659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PERCEPCIÓN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813475" y="5426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25533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2. ¿Cómo percibe los datos la IA?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1924979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5671" y="1924943"/>
            <a:ext cx="587489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Visión computacional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55671" y="2443659"/>
            <a:ext cx="587489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Cámaras en tiempo real.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3487079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5671" y="3487043"/>
            <a:ext cx="587489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Sensores IoT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155671" y="4005759"/>
            <a:ext cx="587489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Temperatura, humedad y collares biométricos.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5049278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5671" y="5049242"/>
            <a:ext cx="587489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Datos estructurados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55671" y="5567958"/>
            <a:ext cx="587489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Registros diarios de veterinarios.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257" y="1670943"/>
            <a:ext cx="4348451" cy="46863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7987" y="3226693"/>
            <a:ext cx="6522577" cy="12700"/>
          </a:xfrm>
          <a:prstGeom prst="rect">
            <a:avLst/>
          </a:prstGeom>
          <a:solidFill>
            <a:srgbClr val="848FA0"/>
          </a:solidFill>
          <a:ln/>
        </p:spPr>
      </p:sp>
      <p:sp>
        <p:nvSpPr>
          <p:cNvPr id="18" name="Shape 12"/>
          <p:cNvSpPr/>
          <p:nvPr/>
        </p:nvSpPr>
        <p:spPr>
          <a:xfrm>
            <a:off x="507987" y="4788892"/>
            <a:ext cx="6522577" cy="12700"/>
          </a:xfrm>
          <a:prstGeom prst="rect">
            <a:avLst/>
          </a:prstGeom>
          <a:solidFill>
            <a:srgbClr val="848FA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1404902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2641"/>
            <a:ext cx="18539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RAZONAMIENTO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020837" y="5426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25533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3. Representación y razonamiento de la IA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048" y="1638002"/>
            <a:ext cx="8051599" cy="45291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1301221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2641"/>
            <a:ext cx="17502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INTERACCIÓN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917156" y="5426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25533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4. Interacción con las personas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987" y="1670943"/>
            <a:ext cx="5109340" cy="4819650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2026702"/>
            <a:ext cx="475374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69" kern="100" dirty="0">
                <a:solidFill>
                  <a:srgbClr val="2A3346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VETERINARIOS Y CUIDADORES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2635448"/>
            <a:ext cx="539736" cy="539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3578" y="3302198"/>
            <a:ext cx="439815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Dashboard web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3578" y="3820914"/>
            <a:ext cx="4398158" cy="13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Alertas y notificaciones push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Gráficas predictivas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Sugerencias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Reportes automáticos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22021" y="1670943"/>
            <a:ext cx="5761687" cy="4819650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277612" y="2026702"/>
            <a:ext cx="540609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69" kern="100" dirty="0">
                <a:solidFill>
                  <a:srgbClr val="2A3346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VISITANTES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612" y="2394148"/>
            <a:ext cx="520687" cy="6942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77612" y="3215382"/>
            <a:ext cx="505050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Tótems y app móvil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277612" y="3734098"/>
            <a:ext cx="505050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Chatbot educativo para visitantes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Puntos distribuidos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987" y="37879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7987" y="3505200"/>
            <a:ext cx="886398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8253" y="3539841"/>
            <a:ext cx="13354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IMPACTO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502333" y="35398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7987" y="393700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5. Impacto social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07987" y="4582418"/>
            <a:ext cx="3521979" cy="114300"/>
          </a:xfrm>
          <a:prstGeom prst="rect">
            <a:avLst/>
          </a:prstGeom>
          <a:solidFill>
            <a:srgbClr val="2D3FA8"/>
          </a:solidFill>
          <a:ln/>
        </p:spPr>
      </p:sp>
      <p:sp>
        <p:nvSpPr>
          <p:cNvPr id="9" name="Text 6"/>
          <p:cNvSpPr/>
          <p:nvPr/>
        </p:nvSpPr>
        <p:spPr>
          <a:xfrm>
            <a:off x="507987" y="4696718"/>
            <a:ext cx="352197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Bienestar animal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07987" y="5215434"/>
            <a:ext cx="352197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Menos estrés y mortalidad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334759" y="4582418"/>
            <a:ext cx="3522078" cy="114300"/>
          </a:xfrm>
          <a:prstGeom prst="rect">
            <a:avLst/>
          </a:prstGeom>
          <a:solidFill>
            <a:srgbClr val="2D3FA8"/>
          </a:solidFill>
          <a:ln/>
        </p:spPr>
      </p:sp>
      <p:sp>
        <p:nvSpPr>
          <p:cNvPr id="12" name="Text 9"/>
          <p:cNvSpPr/>
          <p:nvPr/>
        </p:nvSpPr>
        <p:spPr>
          <a:xfrm>
            <a:off x="4334759" y="4696718"/>
            <a:ext cx="35220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Conservación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334759" y="5215434"/>
            <a:ext cx="352207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Cría en cautividad optimizada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61629" y="4582418"/>
            <a:ext cx="3522078" cy="114300"/>
          </a:xfrm>
          <a:prstGeom prst="rect">
            <a:avLst/>
          </a:prstGeom>
          <a:solidFill>
            <a:srgbClr val="2D3FA8"/>
          </a:solidFill>
          <a:ln/>
        </p:spPr>
      </p:sp>
      <p:sp>
        <p:nvSpPr>
          <p:cNvPr id="15" name="Text 12"/>
          <p:cNvSpPr/>
          <p:nvPr/>
        </p:nvSpPr>
        <p:spPr>
          <a:xfrm>
            <a:off x="8161629" y="4696718"/>
            <a:ext cx="352207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Educación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161629" y="5215434"/>
            <a:ext cx="35220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Concienciación con datos en tiempo real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1301221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2641"/>
            <a:ext cx="17502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APRENDIZAJE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917156" y="5426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25533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6. ¿Cómo aprende la IA?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1670943"/>
            <a:ext cx="4348451" cy="46790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1131" y="1899543"/>
            <a:ext cx="652257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41B2E"/>
                </a:solidFill>
                <a:latin typeface="Hind Bold" pitchFamily="34" charset="0"/>
                <a:ea typeface="Hind Bold" pitchFamily="34" charset="-122"/>
                <a:cs typeface="Hind Bold" pitchFamily="34" charset="-120"/>
              </a:rPr>
              <a:t>Aprendizaje supervisado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161131" y="2418259"/>
            <a:ext cx="652257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Historiales clínicos etiquetados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161131" y="3787279"/>
            <a:ext cx="652257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41B2E"/>
                </a:solidFill>
                <a:latin typeface="Hind Bold" pitchFamily="34" charset="0"/>
                <a:ea typeface="Hind Bold" pitchFamily="34" charset="-122"/>
                <a:cs typeface="Hind Bold" pitchFamily="34" charset="-120"/>
              </a:rPr>
              <a:t>Human-in-the-loop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161131" y="4305995"/>
            <a:ext cx="80484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2D3FA8"/>
                </a:solidFill>
                <a:latin typeface="Hind SemiBold" pitchFamily="34" charset="0"/>
                <a:ea typeface="Hind SemiBold" pitchFamily="34" charset="-122"/>
                <a:cs typeface="Hind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161131" y="4608215"/>
            <a:ext cx="3108843" cy="19050"/>
          </a:xfrm>
          <a:prstGeom prst="rect">
            <a:avLst/>
          </a:prstGeom>
          <a:solidFill>
            <a:srgbClr val="2D3FA8"/>
          </a:solidFill>
          <a:ln/>
        </p:spPr>
      </p:sp>
      <p:sp>
        <p:nvSpPr>
          <p:cNvPr id="13" name="Text 10"/>
          <p:cNvSpPr/>
          <p:nvPr/>
        </p:nvSpPr>
        <p:spPr>
          <a:xfrm>
            <a:off x="5161131" y="4756745"/>
            <a:ext cx="310884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El veterinario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61131" y="5209480"/>
            <a:ext cx="31088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Confirma o corrige las alertas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574766" y="4305995"/>
            <a:ext cx="83500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2D3FA8"/>
                </a:solidFill>
                <a:latin typeface="Hind SemiBold" pitchFamily="34" charset="0"/>
                <a:ea typeface="Hind SemiBold" pitchFamily="34" charset="-122"/>
                <a:cs typeface="Hind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574766" y="4608215"/>
            <a:ext cx="3108843" cy="19050"/>
          </a:xfrm>
          <a:prstGeom prst="rect">
            <a:avLst/>
          </a:prstGeom>
          <a:solidFill>
            <a:srgbClr val="2D3FA8"/>
          </a:solidFill>
          <a:ln/>
        </p:spPr>
      </p:sp>
      <p:sp>
        <p:nvSpPr>
          <p:cNvPr id="17" name="Text 14"/>
          <p:cNvSpPr/>
          <p:nvPr/>
        </p:nvSpPr>
        <p:spPr>
          <a:xfrm>
            <a:off x="8574766" y="4756745"/>
            <a:ext cx="31089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El modelo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574766" y="5209480"/>
            <a:ext cx="310894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Se ajusta a las correcciones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161131" y="3552329"/>
            <a:ext cx="6522577" cy="12700"/>
          </a:xfrm>
          <a:prstGeom prst="rect">
            <a:avLst/>
          </a:prstGeom>
          <a:solidFill>
            <a:srgbClr val="848FA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1508583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2641"/>
            <a:ext cx="195763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ENTRENAMIENTO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124518" y="5426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25533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7. Datos de entrenamiento: el arranque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754" y="1502271"/>
            <a:ext cx="8534187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1404902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2641"/>
            <a:ext cx="18539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APLICACIONES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020837" y="5426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025533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8. Ramas de la IA aplicadas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1924979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5671" y="1924943"/>
            <a:ext cx="587489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55671" y="2443659"/>
            <a:ext cx="587489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Análisis predictivo para dietas exactas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3486880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5671" y="3486845"/>
            <a:ext cx="587489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Computer Vision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155671" y="4005560"/>
            <a:ext cx="587489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Monitorización 24/7 y anomalías físicas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5046103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5671" y="5046067"/>
            <a:ext cx="587489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NLP ()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55671" y="5564783"/>
            <a:ext cx="587489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346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Chatbot inteligente para visitantes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257" y="1670943"/>
            <a:ext cx="4348451" cy="467905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7987" y="3226495"/>
            <a:ext cx="6522577" cy="12700"/>
          </a:xfrm>
          <a:prstGeom prst="rect">
            <a:avLst/>
          </a:prstGeom>
          <a:solidFill>
            <a:srgbClr val="848FA0"/>
          </a:solidFill>
          <a:ln/>
        </p:spPr>
      </p:sp>
      <p:sp>
        <p:nvSpPr>
          <p:cNvPr id="18" name="Shape 12"/>
          <p:cNvSpPr/>
          <p:nvPr/>
        </p:nvSpPr>
        <p:spPr>
          <a:xfrm>
            <a:off x="507987" y="4785717"/>
            <a:ext cx="6522577" cy="12700"/>
          </a:xfrm>
          <a:prstGeom prst="rect">
            <a:avLst/>
          </a:prstGeom>
          <a:solidFill>
            <a:srgbClr val="848FA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90773"/>
            <a:ext cx="11175720" cy="12700"/>
          </a:xfrm>
          <a:prstGeom prst="rect">
            <a:avLst/>
          </a:prstGeom>
          <a:solidFill>
            <a:srgbClr val="2A334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7987" y="508000"/>
            <a:ext cx="1404902" cy="231973"/>
          </a:xfrm>
          <a:prstGeom prst="roundRect">
            <a:avLst>
              <a:gd name="adj" fmla="val 26443"/>
            </a:avLst>
          </a:prstGeom>
          <a:noFill/>
          <a:ln w="6350">
            <a:solidFill>
              <a:srgbClr val="2D3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8253" y="542641"/>
            <a:ext cx="18539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2D3FA8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020837" y="542641"/>
            <a:ext cx="15429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ZOO-LOGIC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987" y="1319074"/>
            <a:ext cx="116837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u="sng" spc="69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7987" y="1621433"/>
            <a:ext cx="1117572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112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De una gestión reactiva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b="1" spc="-112" kern="100" dirty="0">
                <a:solidFill>
                  <a:srgbClr val="141B2E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a una </a:t>
            </a:r>
            <a:pPr algn="l" indent="0" marL="0">
              <a:lnSpc>
                <a:spcPct val="83000"/>
              </a:lnSpc>
              <a:buNone/>
            </a:pPr>
            <a:r>
              <a:rPr lang="en-US" sz="5600" b="1" spc="-112" kern="100" dirty="0">
                <a:solidFill>
                  <a:srgbClr val="2D3FA8"/>
                </a:solidFill>
                <a:latin typeface="Rajdhani Bold" pitchFamily="34" charset="0"/>
                <a:ea typeface="Rajdhani Bold" pitchFamily="34" charset="-122"/>
                <a:cs typeface="Rajdhani Bold" pitchFamily="34" charset="-120"/>
              </a:rPr>
              <a:t>predictiva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507987" y="3286720"/>
            <a:ext cx="3687968" cy="38100"/>
          </a:xfrm>
          <a:prstGeom prst="roundRect">
            <a:avLst>
              <a:gd name="adj" fmla="val 49999"/>
            </a:avLst>
          </a:prstGeom>
          <a:solidFill>
            <a:srgbClr val="2D3FA8"/>
          </a:solidFill>
          <a:ln/>
        </p:spPr>
      </p:sp>
      <p:sp>
        <p:nvSpPr>
          <p:cNvPr id="9" name="Text 7"/>
          <p:cNvSpPr/>
          <p:nvPr/>
        </p:nvSpPr>
        <p:spPr>
          <a:xfrm>
            <a:off x="507987" y="3747095"/>
            <a:ext cx="1117572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Transición de un modelo convencional y clásico a una plataforma predictiva que eleva</a:t>
            </a:r>
            <a:endParaRPr lang="en-US" sz="2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41B2E"/>
                </a:solidFill>
                <a:latin typeface="Hind" pitchFamily="34" charset="0"/>
                <a:ea typeface="Hind" pitchFamily="34" charset="-122"/>
                <a:cs typeface="Hind" pitchFamily="34" charset="-120"/>
              </a:rPr>
              <a:t>los estándares éticos del cuidado animal y la divulgación científica.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7987" y="4833144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848FA0"/>
          </a:solidFill>
          <a:ln/>
        </p:spPr>
      </p:sp>
      <p:sp>
        <p:nvSpPr>
          <p:cNvPr id="11" name="Text 9"/>
          <p:cNvSpPr/>
          <p:nvPr/>
        </p:nvSpPr>
        <p:spPr>
          <a:xfrm>
            <a:off x="507987" y="5110956"/>
            <a:ext cx="11175720" cy="78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200" b="1" u="sng" spc="72" kern="100" dirty="0">
                <a:solidFill>
                  <a:srgbClr val="4A566B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BIBLIOGRAFÍA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spc="72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HERRAMIENTAS DE IA — TEXTO Y ESTRUCTURA: </a:t>
            </a:r>
            <a:pPr algn="l" indent="0" marL="0">
              <a:lnSpc>
                <a:spcPct val="108000"/>
              </a:lnSpc>
              <a:buNone/>
            </a:pPr>
            <a:r>
              <a:rPr lang="en-US" sz="1200" b="1" i="1" spc="72" kern="100" dirty="0">
                <a:solidFill>
                  <a:srgbClr val="4A566B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GEMINI (GOOGLE)</a:t>
            </a:r>
            <a:pPr algn="l" indent="0" marL="0">
              <a:lnSpc>
                <a:spcPct val="108000"/>
              </a:lnSpc>
              <a:buNone/>
            </a:pPr>
            <a:r>
              <a:rPr lang="en-US" sz="1200" spc="72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 · LOGO E IMÁGENES: </a:t>
            </a:r>
            <a:pPr algn="l" indent="0" marL="0">
              <a:lnSpc>
                <a:spcPct val="108000"/>
              </a:lnSpc>
              <a:buNone/>
            </a:pPr>
            <a:r>
              <a:rPr lang="en-US" sz="1200" b="1" i="1" spc="72" kern="100" dirty="0">
                <a:solidFill>
                  <a:srgbClr val="4A566B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RECRAFT.AI</a:t>
            </a:r>
            <a:pPr algn="l" indent="0" marL="0">
              <a:lnSpc>
                <a:spcPct val="108000"/>
              </a:lnSpc>
              <a:buNone/>
            </a:pPr>
            <a:r>
              <a:rPr lang="en-US" sz="1200" spc="72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 · MAQUETACIÓN: </a:t>
            </a:r>
            <a:pPr algn="l" indent="0" marL="0">
              <a:lnSpc>
                <a:spcPct val="108000"/>
              </a:lnSpc>
              <a:buNone/>
            </a:pPr>
            <a:r>
              <a:rPr lang="en-US" sz="1200" b="1" i="1" spc="72" kern="100" dirty="0">
                <a:solidFill>
                  <a:srgbClr val="4A566B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GAMMA.APP</a:t>
            </a:r>
            <a:pPr algn="l" indent="0" marL="0">
              <a:lnSpc>
                <a:spcPct val="108000"/>
              </a:lnSpc>
              <a:buNone/>
            </a:pPr>
            <a:r>
              <a:rPr lang="en-US" sz="1200" spc="72" kern="100" dirty="0">
                <a:solidFill>
                  <a:srgbClr val="4A566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 · ASISTENTE DE INVESTIGACIÓN Y FAQ: </a:t>
            </a:r>
            <a:pPr algn="l" indent="0" marL="0">
              <a:lnSpc>
                <a:spcPct val="108000"/>
              </a:lnSpc>
              <a:buNone/>
            </a:pPr>
            <a:r>
              <a:rPr lang="en-US" sz="1200" b="1" i="1" spc="72" kern="100" dirty="0">
                <a:solidFill>
                  <a:srgbClr val="4A566B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GOOGLE NOTEBOOKLM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2026-10-08T10:31:38Z</dcterms:created>
  <dcterms:modified xsi:type="dcterms:W3CDTF">2026-10-08T10:31:38Z</dcterms:modified>
</cp:coreProperties>
</file>